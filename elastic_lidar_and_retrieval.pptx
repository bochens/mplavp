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66" r:id="rId3"/>
    <p:sldId id="262" r:id="rId4"/>
    <p:sldId id="257" r:id="rId5"/>
    <p:sldId id="260" r:id="rId6"/>
    <p:sldId id="267" r:id="rId7"/>
    <p:sldId id="273" r:id="rId8"/>
    <p:sldId id="284" r:id="rId9"/>
    <p:sldId id="263" r:id="rId10"/>
    <p:sldId id="259" r:id="rId11"/>
    <p:sldId id="264" r:id="rId12"/>
    <p:sldId id="268" r:id="rId13"/>
    <p:sldId id="265" r:id="rId14"/>
    <p:sldId id="271" r:id="rId15"/>
    <p:sldId id="269" r:id="rId16"/>
    <p:sldId id="270" r:id="rId17"/>
    <p:sldId id="272" r:id="rId18"/>
    <p:sldId id="274" r:id="rId19"/>
    <p:sldId id="276" r:id="rId20"/>
    <p:sldId id="277" r:id="rId21"/>
    <p:sldId id="278" r:id="rId22"/>
    <p:sldId id="280" r:id="rId23"/>
    <p:sldId id="281" r:id="rId24"/>
    <p:sldId id="283" r:id="rId25"/>
    <p:sldId id="285" r:id="rId26"/>
    <p:sldId id="28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094"/>
    <p:restoredTop sz="91859"/>
  </p:normalViewPr>
  <p:slideViewPr>
    <p:cSldViewPr snapToGrid="0">
      <p:cViewPr varScale="1">
        <p:scale>
          <a:sx n="125" d="100"/>
          <a:sy n="125" d="100"/>
        </p:scale>
        <p:origin x="168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A1069-E0F4-5B49-B2BC-853347630E92}" type="datetimeFigureOut">
              <a:rPr lang="en-US" smtClean="0"/>
              <a:t>8/26/25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8B10C3-78FE-D14D-B239-3AEF7140E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654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8B10C3-78FE-D14D-B239-3AEF7140E11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8779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BD01E-FA2E-44D9-53BF-962986535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85A5DA-4782-3165-A7D8-9E324CB79A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C76A46-927B-8A8F-4DEB-46A0448625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495E4F-621F-CD59-4743-085303ECD0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8B10C3-78FE-D14D-B239-3AEF7140E11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847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8B10C3-78FE-D14D-B239-3AEF7140E11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0764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37941-8811-A9A7-2271-EEBEF2DA8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9699C7-7872-5485-9826-B84EA3229F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D10168-6CD9-7001-5857-A5EFB6B791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“Micropulse” means the lidar transmits very low-energy pulses (microjoules) at a high repetition rate (kHz)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FC23D-5FCE-DE38-BFBD-1C4A5891B9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8B10C3-78FE-D14D-B239-3AEF7140E11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3052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1B705-B65B-C557-4C91-436D90CDE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58AD5F-D404-9AB9-C2A1-F8FFF84F90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7A6EDB-003E-E852-559A-946F55FAF3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NRB time series and depolarization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2E097-6A00-FE52-ACD7-10B28BF00F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8B10C3-78FE-D14D-B239-3AEF7140E11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026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4C42A-F96D-B58B-6505-C29EBBE9B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1DFCC2-D0F7-214B-5722-C8EEC3EB57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854524-4903-469C-6F69-7D3249F238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cloud, ice cloud, and virga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9653BD-E73F-AC70-AB80-E3C99EC1E5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8B10C3-78FE-D14D-B239-3AEF7140E11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0243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3AA9E-B0CD-F625-BFA7-86788241D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618351-1446-7150-31B0-5CB3EDC786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361E50-C713-509D-DDA4-2A3B16682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5km smoke layer from New Mexico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B48BDD-7C55-3BFA-D16B-ADDC43FA08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8B10C3-78FE-D14D-B239-3AEF7140E11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0678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8B10C3-78FE-D14D-B239-3AEF7140E11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4121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8B10C3-78FE-D14D-B239-3AEF7140E11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0855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8B10C3-78FE-D14D-B239-3AEF7140E11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3716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8B10C3-78FE-D14D-B239-3AEF7140E11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721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C41E5-D87A-DEB0-2001-4DD4F7A5D1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297CFF-FA5F-79E1-CA80-C7581C1E9B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802C3-2037-8C90-97DE-936F8FED7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BFC2A-0DE2-DD49-9EC0-CC43DE1F0E20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B0CCD-5A4D-EC66-439E-71477C35C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8F5CE-FB96-5AA6-D079-67880C698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6473F-088A-5A4F-BFFB-061647089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36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7F295-C44E-DE5B-53E6-7961A7450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F0C4B-191C-BB8A-4BC8-5F02D6E58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881DC-4C84-4CD8-D999-529E2B49A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BFC2A-0DE2-DD49-9EC0-CC43DE1F0E20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F36AC-08DC-0F14-FBFD-5D328E431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24E15-1A15-10F9-28BC-6B1C0EBEF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6473F-088A-5A4F-BFFB-061647089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23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2EA7F-1269-916E-EC9A-B22C4E287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2C4D08-446C-DB7F-E7D3-C31F34475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48A6A-E8C8-3BA7-D1CC-207A6FFE0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BFC2A-0DE2-DD49-9EC0-CC43DE1F0E20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02346-C106-7F47-2634-D510512C9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76E3D-F701-F5B3-5636-63C330A04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6473F-088A-5A4F-BFFB-061647089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325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F12BA-3440-1BE9-CA85-6E34E598B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3D34C-50D7-C27D-F7FA-17BCD05F9A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A1AFB6-D3C1-E673-1751-F33BE5BC16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092DEA-C3CF-9BE5-0D0F-EE2053560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BFC2A-0DE2-DD49-9EC0-CC43DE1F0E20}" type="datetimeFigureOut">
              <a:rPr lang="en-US" smtClean="0"/>
              <a:t>8/26/25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EC887D-4C85-A01C-0AFA-437182F6A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5F06BE-D9F7-CC4E-64BF-F645B65A6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6473F-088A-5A4F-BFFB-061647089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751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2ACFA-0D4F-BF3E-0227-CF03EAFF4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79705A-5598-3A0C-1161-333011635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3D081B-AD00-E9C6-CF18-0CCD8A82D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534905-8FF3-F0D7-ED3B-DC3988057C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76AB85-2B38-5F23-C74E-5B37F730C4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844B46-44AA-6775-828B-322346BDA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BFC2A-0DE2-DD49-9EC0-CC43DE1F0E20}" type="datetimeFigureOut">
              <a:rPr lang="en-US" smtClean="0"/>
              <a:t>8/26/25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11522C-E2C8-276E-FF6B-87E2AD8BA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EF98B7-1CEE-AA61-3082-1FAA573ED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6473F-088A-5A4F-BFFB-061647089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390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34781-0A71-ED2F-5001-34E83977A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1C53ED-D35F-56AF-DF31-EF58463BB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BFC2A-0DE2-DD49-9EC0-CC43DE1F0E20}" type="datetimeFigureOut">
              <a:rPr lang="en-US" smtClean="0"/>
              <a:t>8/26/25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E9DEAE-262C-03A7-E91F-61ADB055C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C86405-FF17-B149-72F8-3A3CA2F2B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6473F-088A-5A4F-BFFB-061647089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777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46932F-8767-56E3-3D07-9C255C9C6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BFC2A-0DE2-DD49-9EC0-CC43DE1F0E20}" type="datetimeFigureOut">
              <a:rPr lang="en-US" smtClean="0"/>
              <a:t>8/26/25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8D3951-A9D5-1509-7A15-4CF6C975F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74949A-B7A7-2C48-58D8-716AA4BE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6473F-088A-5A4F-BFFB-061647089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094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ECAC9-C767-CC86-5DFF-BB0B2082A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105B3-675D-16A6-9079-CFAFF2BA0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163F34-DF35-C403-7F0F-1726E6D0C4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47E521-678C-F04E-6DE4-3AAFC5703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BFC2A-0DE2-DD49-9EC0-CC43DE1F0E20}" type="datetimeFigureOut">
              <a:rPr lang="en-US" smtClean="0"/>
              <a:t>8/26/25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7FDF45-E6F2-9BFD-D1D1-30F91DFD6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98A02A-849C-8429-07BA-EEF8228CE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6473F-088A-5A4F-BFFB-061647089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104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B5E6A-F1CB-0E8E-ECFE-FD41C2549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472845-A8A1-14BF-806A-BC014C8C3D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1E6CDD-AAC4-6384-897B-9E93DEB9A9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52E65-60DA-70E4-4913-D4C06C124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BFC2A-0DE2-DD49-9EC0-CC43DE1F0E20}" type="datetimeFigureOut">
              <a:rPr lang="en-US" smtClean="0"/>
              <a:t>8/26/25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C165A5-3C4D-27FF-355E-B0E2DC6BA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88C3E-670C-3A61-B82B-22DD4C4A3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6473F-088A-5A4F-BFFB-061647089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907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45D65-83E9-7D95-B59B-AD2F93694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633E61-91D4-6FF5-9C86-84AB4199E5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A4E11-CDC3-B01A-2F4D-65F4942A6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BFC2A-0DE2-DD49-9EC0-CC43DE1F0E20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B11D5-3A48-0017-7FC0-3346CB2BE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75009-601A-9DCF-C361-37D446811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6473F-088A-5A4F-BFFB-061647089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09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CFE8A-661C-7643-5C8E-771082C5FB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4D026A-C322-1C6E-A8B5-8DBC393444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8D5AA3-E5F1-CCED-A0CD-6780F826D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BFC2A-0DE2-DD49-9EC0-CC43DE1F0E20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CF82E-6E7A-3F3C-BE94-2D1616B0B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8E1A4-9E6E-093B-EE66-E708EFDEC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6473F-088A-5A4F-BFFB-061647089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616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0B73B9-71C6-5394-4DB8-ECD06A84A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F606C5-3BAE-FFD2-8570-AFC7A99E8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E2826-EFA5-0BC4-9764-FB2C8821A9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3BFC2A-0DE2-DD49-9EC0-CC43DE1F0E20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F31C1-D082-323E-C440-0AB7F17B28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A2116-DC7C-1CC1-6904-D311E9CA7A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16473F-088A-5A4F-BFFB-061647089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665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712DD-03E3-180A-043B-112260F69F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br>
              <a:rPr lang="en-US" sz="4000" dirty="0"/>
            </a:br>
            <a:r>
              <a:rPr lang="en-US" sz="4000" dirty="0"/>
              <a:t>An introduction to MiniMPL for aerosol profile retrieval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989AD3-D963-4E2B-CDDD-253C044BA2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Bo Chen</a:t>
            </a:r>
          </a:p>
          <a:p>
            <a:r>
              <a:rPr lang="en-US" dirty="0"/>
              <a:t>August, 2025</a:t>
            </a:r>
          </a:p>
        </p:txBody>
      </p:sp>
    </p:spTree>
    <p:extLst>
      <p:ext uri="{BB962C8B-B14F-4D97-AF65-F5344CB8AC3E}">
        <p14:creationId xmlns:p14="http://schemas.microsoft.com/office/powerpoint/2010/main" val="2276388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981C9-FF4A-EFB3-3137-A1092EF9D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Laser safety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DC357-73AE-501C-A614-3419610F6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/>
              <a:t>MiniMPL uses a class 2 laser</a:t>
            </a:r>
          </a:p>
          <a:p>
            <a:r>
              <a:rPr lang="en-US" sz="2600" dirty="0"/>
              <a:t>Class 2 visible-light lasers are considered safe for </a:t>
            </a:r>
            <a:r>
              <a:rPr lang="en-US" sz="2600" b="1" dirty="0"/>
              <a:t>unintentional</a:t>
            </a:r>
            <a:r>
              <a:rPr lang="en-US" sz="2600" dirty="0"/>
              <a:t> eye exposure less than 1/4 second because a person will normally turn away or blink to avoid the bright light. </a:t>
            </a:r>
          </a:p>
          <a:p>
            <a:r>
              <a:rPr lang="en-US" sz="2600" dirty="0"/>
              <a:t>Do NOT deliberately stare into the beam -- this can cause injury to the retina in the back of the eye.</a:t>
            </a:r>
          </a:p>
          <a:p>
            <a:r>
              <a:rPr lang="en-US" sz="2600" dirty="0"/>
              <a:t>Be aware of beam reflections off glass and shiny surfaces.</a:t>
            </a:r>
          </a:p>
          <a:p>
            <a:r>
              <a:rPr lang="en-US" sz="2600" dirty="0"/>
              <a:t>No eye hazard for diffuse reflection exposure (safe to look at the laser dot scattered off a matt, non-reflective surface).</a:t>
            </a:r>
          </a:p>
          <a:p>
            <a:r>
              <a:rPr lang="en-US" sz="2600" dirty="0"/>
              <a:t>No skin or material burn hazard.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7436AF-1761-E161-05F2-80F95F74D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200" y="234035"/>
            <a:ext cx="2070463" cy="1456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766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ADBAD-53CF-8C82-DA32-235751DDB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31BFA-628C-54EA-AB03-5D4ADE152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Types of Atmospheric Lidar </a:t>
            </a:r>
            <a:br>
              <a:rPr lang="en-US" sz="3600" dirty="0"/>
            </a:br>
            <a:r>
              <a:rPr lang="en-US" sz="3600" dirty="0"/>
              <a:t>	— by detection method and application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F9BE6-55AE-BDEA-96A0-C00518CE1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Elastic (Mie/Rayleigh) lidar</a:t>
            </a:r>
          </a:p>
          <a:p>
            <a:pPr lvl="1"/>
            <a:r>
              <a:rPr lang="en-US" dirty="0"/>
              <a:t>Detects at the same wavelength as the laser; measures aerosols and clouds.</a:t>
            </a:r>
          </a:p>
          <a:p>
            <a:pPr lvl="1"/>
            <a:r>
              <a:rPr lang="en-US" dirty="0"/>
              <a:t>Example: Micropulse lidar (MPL), Ceilometers, CALIOP.</a:t>
            </a:r>
          </a:p>
          <a:p>
            <a:r>
              <a:rPr lang="en-US" dirty="0"/>
              <a:t>Raman lidar</a:t>
            </a:r>
          </a:p>
          <a:p>
            <a:pPr lvl="1"/>
            <a:r>
              <a:rPr lang="en-US" dirty="0"/>
              <a:t>Detects inelastic scattering (shifted wavelength) from molecules; measures water mixing ratio, nitrogen.</a:t>
            </a:r>
            <a:endParaRPr lang="en-US" baseline="-25000" dirty="0"/>
          </a:p>
          <a:p>
            <a:pPr lvl="1"/>
            <a:r>
              <a:rPr lang="en-US" dirty="0"/>
              <a:t>Example: </a:t>
            </a:r>
            <a:r>
              <a:rPr lang="en-US" dirty="0" err="1"/>
              <a:t>PollyXT</a:t>
            </a:r>
            <a:r>
              <a:rPr lang="en-US" dirty="0"/>
              <a:t> (TROPOS), ARM RLs.</a:t>
            </a:r>
          </a:p>
          <a:p>
            <a:r>
              <a:rPr lang="en-US" dirty="0"/>
              <a:t>High Spectral Resolution Lidar</a:t>
            </a:r>
          </a:p>
          <a:p>
            <a:pPr lvl="1"/>
            <a:r>
              <a:rPr lang="en-US" dirty="0"/>
              <a:t>Separates molecular (Rayleigh) and particulate (Mie) scattering using spectral filters.</a:t>
            </a:r>
          </a:p>
          <a:p>
            <a:pPr lvl="1"/>
            <a:r>
              <a:rPr lang="en-US" dirty="0"/>
              <a:t>Example: NASA HSRLs; ARM HSRLs.</a:t>
            </a:r>
          </a:p>
        </p:txBody>
      </p:sp>
    </p:spTree>
    <p:extLst>
      <p:ext uri="{BB962C8B-B14F-4D97-AF65-F5344CB8AC3E}">
        <p14:creationId xmlns:p14="http://schemas.microsoft.com/office/powerpoint/2010/main" val="3548397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D7F69-0563-2351-3030-75B23BBA5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Types of Atmospheric Lidar </a:t>
            </a:r>
            <a:br>
              <a:rPr lang="en-US" sz="3600" dirty="0"/>
            </a:br>
            <a:r>
              <a:rPr lang="en-US" sz="3600" dirty="0"/>
              <a:t>	— by detection method and application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666B5-2B6A-6A9F-8AD6-7A3483EA3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Doppler lidar</a:t>
            </a:r>
          </a:p>
          <a:p>
            <a:pPr lvl="1"/>
            <a:r>
              <a:rPr lang="en-US" sz="2200" dirty="0"/>
              <a:t>Detects frequency shifts of backscattered light; measures wind speed and turbulence profiles.</a:t>
            </a:r>
          </a:p>
          <a:p>
            <a:r>
              <a:rPr lang="en-US" sz="2600" dirty="0"/>
              <a:t>Differential absorption lidar (DIAL)</a:t>
            </a:r>
          </a:p>
          <a:p>
            <a:pPr lvl="1"/>
            <a:r>
              <a:rPr lang="en-US" sz="2200" dirty="0"/>
              <a:t>Transmits and receives at two closely spaced wavelengths; measures trace gas concentrations.</a:t>
            </a:r>
          </a:p>
          <a:p>
            <a:r>
              <a:rPr lang="en-US" sz="2600" dirty="0"/>
              <a:t>Polarization lidar</a:t>
            </a:r>
          </a:p>
          <a:p>
            <a:pPr lvl="1"/>
            <a:r>
              <a:rPr lang="en-US" sz="2200" dirty="0"/>
              <a:t>Measures the depolarization ratio; differentiates spherical vs. non-spherical particles.</a:t>
            </a:r>
          </a:p>
        </p:txBody>
      </p:sp>
    </p:spTree>
    <p:extLst>
      <p:ext uri="{BB962C8B-B14F-4D97-AF65-F5344CB8AC3E}">
        <p14:creationId xmlns:p14="http://schemas.microsoft.com/office/powerpoint/2010/main" val="2134947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A7C84-F332-DA0B-089E-B3C8E2C6D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39077-D7B4-1693-6A79-B1EDD375E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Micropulse lidar</a:t>
            </a:r>
          </a:p>
        </p:txBody>
      </p:sp>
      <p:pic>
        <p:nvPicPr>
          <p:cNvPr id="9" name="Content Placeholder 8" descr="A drawing of a machine&#10;&#10;AI-generated content may be incorrect.">
            <a:extLst>
              <a:ext uri="{FF2B5EF4-FFF2-40B4-BE49-F238E27FC236}">
                <a16:creationId xmlns:a16="http://schemas.microsoft.com/office/drawing/2014/main" id="{B5E7F5D1-AE3A-DA21-36E1-D60E492AB5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930991" y="1825625"/>
            <a:ext cx="3422809" cy="4351338"/>
          </a:xfr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022B4B7-6088-BB92-DD6C-953910E7FB2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656761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2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0E23532-D722-A715-2528-D7CB9AB56F9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680792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/>
              <a:t>532 nm wavelength.</a:t>
            </a:r>
          </a:p>
          <a:p>
            <a:r>
              <a:rPr lang="en-US" sz="2600" dirty="0"/>
              <a:t>Detects backscatter and linear depolarization ratio.</a:t>
            </a:r>
          </a:p>
          <a:p>
            <a:r>
              <a:rPr lang="en-US" sz="2600" dirty="0"/>
              <a:t>Two versions: MiniMPL and MPL</a:t>
            </a:r>
          </a:p>
          <a:p>
            <a:r>
              <a:rPr lang="en-US" sz="2600" dirty="0"/>
              <a:t>Blind range: 100 m (MiniMPL), 250 m (MPL)</a:t>
            </a:r>
          </a:p>
          <a:p>
            <a:r>
              <a:rPr lang="en-US" sz="2600" dirty="0"/>
              <a:t>Range: 15 km (MiniMPL), 25 km (MPL)</a:t>
            </a:r>
          </a:p>
          <a:p>
            <a:r>
              <a:rPr lang="en-US" sz="2600" dirty="0"/>
              <a:t>Class 2 laser: visible, eye-safe for </a:t>
            </a:r>
            <a:r>
              <a:rPr lang="en-US" sz="2600" i="1" dirty="0"/>
              <a:t>momentary</a:t>
            </a:r>
            <a:r>
              <a:rPr lang="en-US" sz="2600" dirty="0"/>
              <a:t> unaided viewing; don’t use binoculars/optics</a:t>
            </a:r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043065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D4FAC-870B-3948-587C-C56FA88F5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F59C9-994E-AC02-2A50-91BC3026A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Micropulse lidar examples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0492C58-2C36-B20F-45E0-9DAECB44ED7F}"/>
              </a:ext>
            </a:extLst>
          </p:cNvPr>
          <p:cNvGrpSpPr/>
          <p:nvPr/>
        </p:nvGrpSpPr>
        <p:grpSpPr>
          <a:xfrm>
            <a:off x="2252374" y="1690688"/>
            <a:ext cx="7687252" cy="4828436"/>
            <a:chOff x="2136935" y="1439014"/>
            <a:chExt cx="8046146" cy="505386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B566A9B-EE0D-88FC-E0F0-7D70EA266D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67836"/>
            <a:stretch>
              <a:fillRect/>
            </a:stretch>
          </p:blipFill>
          <p:spPr>
            <a:xfrm>
              <a:off x="2136935" y="1439014"/>
              <a:ext cx="8046146" cy="2575202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2482157-BCFE-45F0-5A6C-27E9803B61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rcRect l="33052" r="35843"/>
            <a:stretch>
              <a:fillRect/>
            </a:stretch>
          </p:blipFill>
          <p:spPr>
            <a:xfrm>
              <a:off x="2205366" y="3917673"/>
              <a:ext cx="7781268" cy="257520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70674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DB074-56D7-12F8-41A7-975B3A421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7630D-F30D-8698-C4F8-A5A116458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Micropulse lidar examples</a:t>
            </a:r>
          </a:p>
        </p:txBody>
      </p:sp>
      <p:pic>
        <p:nvPicPr>
          <p:cNvPr id="4" name="Picture 3" descr="A close-up of a rainbow&#10;&#10;AI-generated content may be incorrect.">
            <a:extLst>
              <a:ext uri="{FF2B5EF4-FFF2-40B4-BE49-F238E27FC236}">
                <a16:creationId xmlns:a16="http://schemas.microsoft.com/office/drawing/2014/main" id="{20D84539-D199-9060-CC08-1D90F2A79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556" y="2235672"/>
            <a:ext cx="11240888" cy="2622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999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84086-3AC5-4264-B1FC-D762D9A28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E8360-298E-F24E-43AD-F58E2E37D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Micropulse lidar examples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3F5AF8-B5D2-5748-24E5-2FD4370E2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843" y="1690688"/>
            <a:ext cx="5821018" cy="17639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40328C-95FC-BCC9-8797-EAA5AD5ECB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843" y="3454632"/>
            <a:ext cx="5821018" cy="18417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123B59-A655-E094-2603-67EFCA7ADD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8790" y="1517032"/>
            <a:ext cx="3413319" cy="32419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25B3E6-757A-5535-8E9E-3D52B1245A27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76354" y="4759026"/>
            <a:ext cx="3591952" cy="907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842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67EEB-A968-7921-8A0B-D7922148C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E0445-82DC-2E1A-4602-72EDF1232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MPL raw signal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18D6F2-A868-67E4-E758-8BD2EF49FE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𝑟𝑎𝑤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𝑬𝑪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</m:d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ap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𝑟𝑎𝑤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</m:d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𝑟𝑎𝑤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r>
                  <a:rPr lang="en-US" dirty="0"/>
                  <a:t>: 	MPL raw signal.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: 		lidar range, height of the center of each signal bin.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r>
                  <a:rPr lang="en-US" dirty="0"/>
                  <a:t>: 		overlap contribution.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dirty="0"/>
                  <a:t>: 		background contribution.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ap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r>
                  <a:rPr lang="en-US" dirty="0"/>
                  <a:t>: 		afterpulse contribution.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𝑟𝑎𝑤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: 	dead-time factor.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18D6F2-A868-67E4-E758-8BD2EF49FE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5642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3BBAF-A000-576D-6F43-41222367F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4A5FD-8326-B100-48EF-538B6DB79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The lidar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AA3117-2DBA-0C25-7165-1CEA6F1E29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𝐸𝐶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𝑅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 : 	the outgoing laser energy.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: 	system calibration constant.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: 	inverse-square law.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	backscatter coefficient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r>
                  <a:rPr lang="en-US" dirty="0"/>
                  <a:t>: 	transmittance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AA3117-2DBA-0C25-7165-1CEA6F1E29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4040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3F349-4A67-7623-C40D-0F564C548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Energy and range correction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E922CE-E7B0-0FF4-17B1-506EA9E146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𝑁𝑅𝐵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∙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effectLst/>
                  </a:rPr>
                  <a:t> </a:t>
                </a:r>
              </a:p>
              <a:p>
                <a:pPr lvl="1"/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𝑁𝑅𝐵</m:t>
                    </m:r>
                  </m:oMath>
                </a14:m>
                <a:r>
                  <a:rPr lang="en-US" dirty="0"/>
                  <a:t>: Normalized relative backscatter. Also called attenuated backscatter.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E922CE-E7B0-0FF4-17B1-506EA9E146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0176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1DE7C-9F21-A21A-7F03-1B942FE9B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7EB-9E9E-BC58-022B-779C311BC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The lidar equation for a 2 component atmosphere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322D86-4D7A-FA65-BFED-026ADB1680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For a 2-component atmosphere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0" i="0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𝑁𝑅𝐵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d>
                      </m:e>
                    </m:d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r>
                  <a:rPr lang="en-US" dirty="0">
                    <a:effectLst/>
                  </a:rPr>
                  <a:t> </a:t>
                </a:r>
                <a:endParaRPr lang="en-US" dirty="0"/>
              </a:p>
              <a:p>
                <a:pPr lvl="1"/>
                <a:endParaRPr lang="en-US" i="1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r>
                  <a:rPr lang="en-US" dirty="0"/>
                  <a:t>: backscatter coefficient for </a:t>
                </a:r>
                <a:r>
                  <a:rPr lang="en-US" b="1" dirty="0"/>
                  <a:t>aerosol</a:t>
                </a:r>
                <a:r>
                  <a:rPr lang="en-US" dirty="0"/>
                  <a:t> and </a:t>
                </a:r>
                <a:r>
                  <a:rPr lang="en-US" b="1" dirty="0"/>
                  <a:t>air</a:t>
                </a:r>
                <a:r>
                  <a:rPr lang="en-US" dirty="0"/>
                  <a:t> </a:t>
                </a:r>
                <a:r>
                  <a:rPr lang="en-US" b="1" dirty="0"/>
                  <a:t>molecule</a:t>
                </a:r>
                <a:r>
                  <a:rPr lang="en-US" dirty="0"/>
                  <a:t>.</a:t>
                </a:r>
                <a:endParaRPr lang="en-US" sz="36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r>
                  <a:rPr lang="en-US" dirty="0"/>
                  <a:t>: transmittance for </a:t>
                </a:r>
                <a:r>
                  <a:rPr lang="en-US" b="1" dirty="0"/>
                  <a:t>aerosol</a:t>
                </a:r>
                <a:r>
                  <a:rPr lang="en-US" dirty="0"/>
                  <a:t> and </a:t>
                </a:r>
                <a:r>
                  <a:rPr lang="en-US" b="1" dirty="0"/>
                  <a:t>air molecule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322D86-4D7A-FA65-BFED-026ADB1680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0135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4229B-6432-054A-191A-CF3DB9AEF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F3302-E2E9-156A-F89D-F796A1F9D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Lidar ratio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74F975-78A3-131E-2368-E43C2EB2C5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An extinction-to-backscatter ratio (or lidar ratio)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with unit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𝑠𝑟</m:t>
                    </m:r>
                  </m:oMath>
                </a14:m>
                <a:r>
                  <a:rPr lang="en-US" dirty="0"/>
                  <a:t>, can be applied to simplify the lidar equation.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the aerosol lidar ratio, is constant with range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and can be determined with </a:t>
                </a:r>
                <a:r>
                  <a:rPr lang="en-US" i="1" dirty="0"/>
                  <a:t>a priori</a:t>
                </a:r>
                <a:r>
                  <a:rPr lang="en-US" dirty="0"/>
                  <a:t> information.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effectLst/>
                  </a:rPr>
                  <a:t>, </a:t>
                </a:r>
                <a:r>
                  <a:rPr lang="en-US" dirty="0"/>
                  <a:t>The lidar ratio for molecular scatterers, is a constant as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/3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74F975-78A3-131E-2368-E43C2EB2C5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>
            <a:extLst>
              <a:ext uri="{FF2B5EF4-FFF2-40B4-BE49-F238E27FC236}">
                <a16:creationId xmlns:a16="http://schemas.microsoft.com/office/drawing/2014/main" id="{0F594AC0-F25A-442F-0918-2A693A3AEC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733"/>
          <a:stretch>
            <a:fillRect/>
          </a:stretch>
        </p:blipFill>
        <p:spPr bwMode="auto">
          <a:xfrm>
            <a:off x="1008948" y="4216615"/>
            <a:ext cx="4376375" cy="2200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367454E-877A-4ABB-12FE-9800F0886E09}"/>
              </a:ext>
            </a:extLst>
          </p:cNvPr>
          <p:cNvSpPr txBox="1"/>
          <p:nvPr/>
        </p:nvSpPr>
        <p:spPr>
          <a:xfrm>
            <a:off x="5556070" y="4600992"/>
            <a:ext cx="6096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Aerosol lidar ratios with expected uncertainties for tropospheric aerosol subtypes at 532 and 1064 nm in CALIOP version 3 and 4 aerosol retrieval algorithms. </a:t>
            </a:r>
          </a:p>
          <a:p>
            <a:endParaRPr lang="en-US" sz="1600" dirty="0"/>
          </a:p>
          <a:p>
            <a:r>
              <a:rPr lang="en-US" sz="1600" dirty="0"/>
              <a:t>Kim, M. H. et al. (2018). The CALIPSO version 4 automated aerosol classification and lidar ratio selection algorithm. Atmospheric measurement techniques.</a:t>
            </a:r>
          </a:p>
        </p:txBody>
      </p:sp>
    </p:spTree>
    <p:extLst>
      <p:ext uri="{BB962C8B-B14F-4D97-AF65-F5344CB8AC3E}">
        <p14:creationId xmlns:p14="http://schemas.microsoft.com/office/powerpoint/2010/main" val="2553641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A96E7-39EA-C67A-6A3F-873CE75BD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F3E36-3EBC-6083-EF15-A736019A7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Using Beer-Lambert 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8D036C-EB3F-4D3F-6E29-6B56CE9F66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sz="2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limLoc m:val="subSup"/>
                              <m:grow m:val="on"/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p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 </m:t>
                              </m:r>
                            </m:e>
                          </m:nary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d>
                            <m:d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𝑑𝑟</m:t>
                          </m:r>
                        </m:e>
                      </m:d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  <a:effectLst/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For molecular transmittance, apply lidar ratio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𝑒𝑥𝑝</m:t>
                    </m:r>
                    <m:d>
                      <m:d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limLoc m:val="subSup"/>
                            <m:grow m:val="on"/>
                            <m:ctrlPr>
                              <a:rPr lang="en-US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p>
                          <m:e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 </m:t>
                            </m:r>
                          </m:e>
                        </m:nary>
                        <m:sSub>
                          <m:sSubPr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𝑑𝑟</m:t>
                        </m:r>
                      </m:e>
                    </m:d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𝑒𝑥𝑝</m:t>
                    </m:r>
                    <m:d>
                      <m:d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nary>
                          <m:naryPr>
                            <m:limLoc m:val="subSup"/>
                            <m:grow m:val="on"/>
                            <m:ctrlPr>
                              <a:rPr lang="en-US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p>
                          <m:e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 </m:t>
                            </m:r>
                          </m:e>
                        </m:nary>
                        <m:sSub>
                          <m:sSubPr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𝑑𝑟</m:t>
                        </m:r>
                      </m:e>
                    </m:d>
                  </m:oMath>
                </a14:m>
                <a:r>
                  <a:rPr lang="en-US" sz="2200" dirty="0">
                    <a:solidFill>
                      <a:schemeClr val="tx1"/>
                    </a:solidFill>
                    <a:effectLst/>
                  </a:rPr>
                  <a:t> </a:t>
                </a:r>
              </a:p>
              <a:p>
                <a:r>
                  <a:rPr lang="en-US" dirty="0">
                    <a:solidFill>
                      <a:schemeClr val="tx1"/>
                    </a:solidFill>
                    <a:effectLst/>
                  </a:rPr>
                  <a:t>Take logs and rearrange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)=−</m:t>
                    </m:r>
                    <m:sSub>
                      <m:sSub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nary>
                      <m:naryPr>
                        <m:limLoc m:val="subSup"/>
                        <m:grow m:val="on"/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</m:e>
                    </m:nary>
                    <m:sSub>
                      <m:sSub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𝑑𝑟</m:t>
                    </m:r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⇒2</m:t>
                    </m:r>
                    <m:sSub>
                      <m:sSub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nary>
                      <m:naryPr>
                        <m:limLoc m:val="subSup"/>
                        <m:grow m:val="on"/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</m:e>
                    </m:nary>
                    <m:sSub>
                      <m:sSub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𝑑𝑟</m:t>
                    </m:r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US" sz="2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b>
                      <m:sSub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effectLst/>
                  </a:rPr>
                  <a:t> 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Exponentiate. Will use this later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nary>
                          <m:naryPr>
                            <m:limLoc m:val="subSup"/>
                            <m:grow m:val="on"/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p>
                          <m:e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 </m:t>
                            </m:r>
                          </m:e>
                        </m:nary>
                        <m:sSub>
                          <m:sSubPr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𝑑𝑟</m:t>
                        </m:r>
                      </m:e>
                    </m:d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sSup>
                      <m:sSup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  <m:sSub>
                          <m:sSubPr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  <a:effectLst/>
                  </a:rPr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8D036C-EB3F-4D3F-6E29-6B56CE9F66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1686" b="-15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0310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16034-F95E-C1D6-47C0-91A699470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CC012-95D0-2392-3AF0-B64684E27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Solution to the 2-component lidar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8248E2-C4BB-C571-22A3-BF3D6CDB6B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For the aerosol transmittance term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r>
                          <a:rPr lang="en-US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𝑒𝑥𝑝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  <m:nary>
                          <m:naryPr>
                            <m:limLoc m:val="subSup"/>
                            <m:grow m:val="on"/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p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 </m:t>
                            </m:r>
                          </m:e>
                        </m:nary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𝑒𝑥𝑝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nary>
                          <m:naryPr>
                            <m:limLoc m:val="subSup"/>
                            <m:grow m:val="on"/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p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 </m:t>
                            </m:r>
                          </m:e>
                        </m:nary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tx1"/>
                    </a:solidFill>
                    <a:effectLst/>
                  </a:rPr>
                  <a:t> 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Take derivatives of both sides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d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𝑑𝑅</m:t>
                        </m:r>
                      </m:den>
                    </m:f>
                  </m:oMath>
                </a14:m>
                <a:r>
                  <a:rPr lang="en-US" sz="2400" dirty="0">
                    <a:effectLst/>
                  </a:rPr>
                  <a:t> </a:t>
                </a:r>
                <a:endParaRPr lang="en-US" sz="2400" i="1" dirty="0">
                  <a:effectLst/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Apply to the lidar equation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𝑁𝑅𝐵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</m:d>
                            </m:den>
                          </m:f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𝑑𝑅</m:t>
                              </m:r>
                            </m:den>
                          </m:f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∙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</m:oMath>
                  </m:oMathPara>
                </a14:m>
                <a:endParaRPr lang="en-US" sz="2400" i="1" dirty="0"/>
              </a:p>
              <a:p>
                <a:r>
                  <a:rPr lang="en-US" dirty="0"/>
                  <a:t>Rearrange as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</m:t>
                        </m:r>
                        <m:sSubSup>
                          <m:sSub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𝑑𝑅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𝑁𝑅𝐵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∙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</m:oMath>
                </a14:m>
                <a:r>
                  <a:rPr lang="en-US" sz="2400" dirty="0">
                    <a:effectLst/>
                  </a:rPr>
                  <a:t> </a:t>
                </a:r>
                <a:endParaRPr lang="en-US" sz="2400" dirty="0"/>
              </a:p>
              <a:p>
                <a:pPr marL="0" indent="0">
                  <a:buNone/>
                </a:pPr>
                <a:endParaRPr lang="en-US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8248E2-C4BB-C571-22A3-BF3D6CDB6B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5" t="-4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2572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FBAAB-5787-0F21-E7AB-64E1F78CE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5D9DE-B4B9-63CD-96E5-DA6796C2A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Solution to the 2-component lidar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842256-8133-A03E-73DD-6700694351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sz="3400" dirty="0"/>
                  <a:t>Which is a first order linear ODE. Applying the boundary condition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40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340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  <m:sup>
                        <m:r>
                          <a:rPr lang="en-US" sz="34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4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340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400" dirty="0"/>
                  <a:t>, we have:</a:t>
                </a:r>
              </a:p>
              <a:p>
                <a:pPr marL="0" indent="0">
                  <a:buNone/>
                </a:pPr>
                <a:endParaRPr lang="en-US" sz="3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𝑒𝑥𝑝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nary>
                                <m:naryPr>
                                  <m:limLoc m:val="subSup"/>
                                  <m:grow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sup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 </m:t>
                                  </m:r>
                                </m:e>
                              </m:nary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den>
                              </m:f>
                              <m:nary>
                                <m:naryPr>
                                  <m:limLoc m:val="subSup"/>
                                  <m:grow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sup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 </m:t>
                                  </m:r>
                                </m:e>
                              </m:nary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𝑁𝑅𝐵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d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d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𝑒𝑥𝑝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nary>
                                    <m:naryPr>
                                      <m:limLoc m:val="subSup"/>
                                      <m:grow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p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 </m:t>
                                      </m:r>
                                    </m:e>
                                  </m:nary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</m:eqArr>
                    </m:oMath>
                  </m:oMathPara>
                </a14:m>
                <a:endParaRPr lang="en-US" dirty="0"/>
              </a:p>
              <a:p>
                <a:endParaRPr lang="en-US" sz="3400" dirty="0"/>
              </a:p>
              <a:p>
                <a:r>
                  <a:rPr lang="en-US" sz="3400" dirty="0">
                    <a:solidFill>
                      <a:schemeClr val="tx1"/>
                    </a:solidFill>
                  </a:rPr>
                  <a:t>Recall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𝑒𝑥𝑝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nary>
                          <m:naryPr>
                            <m:limLoc m:val="subSup"/>
                            <m:grow m:val="on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p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 </m:t>
                            </m:r>
                          </m:e>
                        </m:nary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d>
                      </m:e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den>
                          </m:f>
                          <m:nary>
                            <m:naryPr>
                              <m:limLoc m:val="subSup"/>
                              <m:grow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 </m:t>
                              </m:r>
                            </m:e>
                          </m:nary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𝑁𝑅𝐵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Sub back to the lidar equation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𝑁𝑅𝐵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d>
                      </m:e>
                    </m:d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∙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den>
                        </m:f>
                        <m:nary>
                          <m:naryPr>
                            <m:limLoc m:val="subSup"/>
                            <m:grow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p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 </m:t>
                            </m:r>
                          </m:e>
                        </m:nary>
                        <m:r>
                          <a:rPr lang="en-US" i="1">
                            <a:latin typeface="Cambria Math" panose="02040503050406030204" pitchFamily="18" charset="0"/>
                          </a:rPr>
                          <m:t>𝑁𝑅𝐵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∙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d>
                          </m:e>
                          <m:sup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dirty="0">
                    <a:effectLst/>
                  </a:rPr>
                  <a:t> </a:t>
                </a:r>
                <a:r>
                  <a:rPr lang="en-US" dirty="0"/>
                  <a:t>	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842256-8133-A03E-73DD-6700694351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9884" b="-220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75188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23382-27AD-3BAE-23FD-4ED80521E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A2E0-1612-0897-EDDB-75CBCE0D5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Solution to the 2-component lidar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77BEB5-296A-45F5-4309-2780C4C5E7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600" dirty="0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6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r>
                  <a:rPr lang="en-US" sz="2600" dirty="0"/>
                  <a:t> yields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𝑁𝑅𝐵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</m:d>
                            </m:e>
                            <m:sup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p>
                        </m:num>
                        <m:den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nary>
                            <m:naryPr>
                              <m:limLoc m:val="subSup"/>
                              <m:grow m:val="on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p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 </m:t>
                              </m:r>
                            </m:e>
                          </m:nary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𝑁𝑅𝐵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</m:e>
                            <m:sup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220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US" sz="22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</m:oMath>
                  </m:oMathPara>
                </a14:m>
                <a:endParaRPr lang="en-US" sz="2200" dirty="0"/>
              </a:p>
              <a:p>
                <a:endParaRPr lang="en-US" sz="2600" dirty="0"/>
              </a:p>
              <a:p>
                <a:r>
                  <a:rPr lang="en-US" sz="2600" dirty="0"/>
                  <a:t>With a priori information about the aerosol backscatter and extinction coefficient at the calibration range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60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sz="2600" dirty="0"/>
                  <a:t>, the system calibration constant </a:t>
                </a:r>
                <a14:m>
                  <m:oMath xmlns:m="http://schemas.openxmlformats.org/officeDocument/2006/math">
                    <m:r>
                      <a:rPr lang="en-US" sz="260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600" dirty="0"/>
                  <a:t> can be solved.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𝑁𝑅𝐵</m:t>
                        </m:r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</m:e>
                        </m:d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en-US" sz="1800" i="1">
                        <a:latin typeface="Cambria Math" panose="02040503050406030204" pitchFamily="18" charset="0"/>
                      </a:rPr>
                      <m:t>∙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𝑒𝑥𝑝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−2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)</m:t>
                        </m:r>
                        <m:nary>
                          <m:naryPr>
                            <m:limLoc m:val="subSup"/>
                            <m:grow m:val="on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</m:sup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 </m:t>
                            </m:r>
                          </m:e>
                        </m:nary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nary>
                      <m:naryPr>
                        <m:limLoc m:val="subSup"/>
                        <m:grow m:val="on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sup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 </m:t>
                        </m:r>
                      </m:e>
                    </m:nary>
                    <m:r>
                      <a:rPr lang="en-US" sz="1800" i="1">
                        <a:latin typeface="Cambria Math" panose="02040503050406030204" pitchFamily="18" charset="0"/>
                      </a:rPr>
                      <m:t>𝑁𝑅𝐵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∙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𝑒𝑥𝑝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−2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)</m:t>
                        </m:r>
                        <m:nary>
                          <m:naryPr>
                            <m:limLoc m:val="subSup"/>
                            <m:grow m:val="on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 </m:t>
                            </m:r>
                          </m:e>
                        </m:nary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1600" dirty="0">
                    <a:effectLst/>
                  </a:rPr>
                  <a:t> </a:t>
                </a:r>
                <a:endParaRPr lang="en-US" sz="1800" dirty="0"/>
              </a:p>
              <a:p>
                <a:pPr marL="0" indent="0" algn="ctr">
                  <a:buNone/>
                </a:pPr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77BEB5-296A-45F5-4309-2780C4C5E7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79470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A3250-4A89-C47A-50CB-44B0DBBA0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2F229-4721-EB75-AA2A-25C7CD1F0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Solution to the 2-component lidar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D7F0DE-9C3E-9CC3-AC22-68E42F1CC8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sz="2600" dirty="0"/>
                  <a:t>Plugging </a:t>
                </a:r>
                <a14:m>
                  <m:oMath xmlns:m="http://schemas.openxmlformats.org/officeDocument/2006/math">
                    <m:r>
                      <a:rPr lang="en-US" sz="260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600" dirty="0"/>
                  <a:t> back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𝑁𝑅𝐵</m:t>
                        </m:r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d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∙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𝑒𝑥𝑝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nary>
                              <m:naryPr>
                                <m:limLoc m:val="subSup"/>
                                <m:grow m:val="on"/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sup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 </m:t>
                                </m:r>
                              </m:e>
                            </m:nary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num>
                      <m:den>
                        <m:d>
                          <m:dPr>
                            <m:begChr m:val="{"/>
                            <m:endChr m:val="}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f>
                                  <m:f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𝑁𝑅𝐵</m:t>
                                    </m:r>
                                    <m:d>
                                      <m:d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200" i="1"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</m:e>
                                          <m:sub>
                                            <m:r>
                                              <a:rPr lang="en-US" sz="2200" i="1">
                                                <a:latin typeface="Cambria Math" panose="02040503050406030204" pitchFamily="18" charset="0"/>
                                              </a:rPr>
                                              <m:t>𝐶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200" i="1"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</m:e>
                                          <m:sub>
                                            <m:r>
                                              <a:rPr lang="en-US" sz="2200" i="1">
                                                <a:latin typeface="Cambria Math" panose="02040503050406030204" pitchFamily="18" charset="0"/>
                                              </a:rPr>
                                              <m:t>𝐶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200" i="1"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</m:e>
                                          <m:sub>
                                            <m:r>
                                              <a:rPr lang="en-US" sz="2200" i="1">
                                                <a:latin typeface="Cambria Math" panose="02040503050406030204" pitchFamily="18" charset="0"/>
                                              </a:rPr>
                                              <m:t>𝐶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den>
                                </m:f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𝑒𝑥𝑝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sSub>
                                      <m:sSub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nary>
                                      <m:naryPr>
                                        <m:limLoc m:val="subSup"/>
                                        <m:grow m:val="on"/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  <m:sup>
                                        <m:sSub>
                                          <m:sSubPr>
                                            <m:ctrlPr>
                                              <a:rPr lang="en-US" sz="2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200" i="1"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</m:e>
                                          <m:sub>
                                            <m:r>
                                              <a:rPr lang="en-US" sz="2200" i="1">
                                                <a:latin typeface="Cambria Math" panose="02040503050406030204" pitchFamily="18" charset="0"/>
                                              </a:rPr>
                                              <m:t>𝐶</m:t>
                                            </m:r>
                                          </m:sub>
                                        </m:sSub>
                                      </m:sup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 </m:t>
                                        </m:r>
                                      </m:e>
                                    </m:nary>
                                    <m:sSub>
                                      <m:sSub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</m:d>
                                    <m:r>
                                      <m:rPr>
                                        <m:sty m:val="p"/>
                                      </m:rPr>
                                      <a:rPr lang="en-US" sz="2200"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d>
                              </m:e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sSub>
                                  <m:sSub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nary>
                                  <m:naryPr>
                                    <m:limLoc m:val="subSup"/>
                                    <m:grow m:val="on"/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sub>
                                    </m:sSub>
                                  </m:sup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 </m:t>
                                    </m:r>
                                  </m:e>
                                </m:nary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𝑁𝑅𝐵</m:t>
                                </m:r>
                                <m:d>
                                  <m:d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d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𝑒𝑥𝑝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sSub>
                                      <m:sSub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nary>
                                      <m:naryPr>
                                        <m:limLoc m:val="subSup"/>
                                        <m:grow m:val="on"/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  <m:sup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p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 </m:t>
                                        </m:r>
                                      </m:e>
                                    </m:nary>
                                    <m:sSub>
                                      <m:sSub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2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200" i="1"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p>
                                            <m:r>
                                              <a:rPr lang="en-US" sz="2200" i="1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  <m:r>
                                      <m:rPr>
                                        <m:sty m:val="p"/>
                                      </m:rPr>
                                      <a:rPr lang="en-US" sz="2200"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en-US" sz="220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sSub>
                                  <m:sSub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nary>
                                  <m:naryPr>
                                    <m:limLoc m:val="subSup"/>
                                    <m:grow m:val="on"/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sup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 </m:t>
                                    </m:r>
                                  </m:e>
                                </m:nary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𝑁𝑅𝐵</m:t>
                                </m:r>
                                <m:d>
                                  <m:d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d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𝑒𝑥𝑝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sSub>
                                      <m:sSub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nary>
                                      <m:naryPr>
                                        <m:limLoc m:val="subSup"/>
                                        <m:grow m:val="on"/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  <m:sup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p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 </m:t>
                                        </m:r>
                                      </m:e>
                                    </m:nary>
                                    <m:sSub>
                                      <m:sSub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2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200" i="1"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p>
                                            <m:r>
                                              <a:rPr lang="en-US" sz="2200" i="1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  <m:r>
                                      <m:rPr>
                                        <m:sty m:val="p"/>
                                      </m:rPr>
                                      <a:rPr lang="en-US" sz="2200"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en-US" sz="220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eqArr>
                          </m:e>
                        </m:d>
                      </m:den>
                    </m:f>
                    <m:r>
                      <a:rPr lang="en-US" sz="22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r>
                  <a:rPr lang="en-US" sz="2200" dirty="0">
                    <a:effectLst/>
                  </a:rPr>
                  <a:t> </a:t>
                </a:r>
              </a:p>
              <a:p>
                <a:endParaRPr lang="en-US" sz="2600" dirty="0"/>
              </a:p>
              <a:p>
                <a:r>
                  <a:rPr lang="en-US" sz="2600" dirty="0"/>
                  <a:t>The integral </a:t>
                </a:r>
                <a14:m>
                  <m:oMath xmlns:m="http://schemas.openxmlformats.org/officeDocument/2006/math">
                    <m:r>
                      <a:rPr lang="en-US" sz="1900">
                        <a:latin typeface="Cambria Math" panose="02040503050406030204" pitchFamily="18" charset="0"/>
                      </a:rPr>
                      <m:t>𝑒𝑥𝑝</m:t>
                    </m:r>
                    <m:d>
                      <m:dPr>
                        <m:begChr m:val="["/>
                        <m:endChr m:val="]"/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>
                            <a:latin typeface="Cambria Math" panose="02040503050406030204" pitchFamily="18" charset="0"/>
                          </a:rPr>
                          <m:t>−2</m:t>
                        </m:r>
                        <m:sSub>
                          <m:sSubPr>
                            <m:ctrlPr>
                              <a:rPr lang="en-US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90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9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9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9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900">
                            <a:latin typeface="Cambria Math" panose="02040503050406030204" pitchFamily="18" charset="0"/>
                          </a:rPr>
                          <m:t>)</m:t>
                        </m:r>
                        <m:nary>
                          <m:naryPr>
                            <m:limLoc m:val="subSup"/>
                            <m:grow m:val="on"/>
                            <m:ctrlPr>
                              <a:rPr lang="en-US" sz="19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9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90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90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</m:sup>
                          <m:e>
                            <m:r>
                              <a:rPr lang="en-US" sz="1900">
                                <a:latin typeface="Cambria Math" panose="02040503050406030204" pitchFamily="18" charset="0"/>
                              </a:rPr>
                              <m:t> </m:t>
                            </m:r>
                          </m:e>
                        </m:nary>
                        <m:sSub>
                          <m:sSubPr>
                            <m:ctrlPr>
                              <a:rPr lang="en-US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19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sz="19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90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sz="190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sz="190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sz="2600" dirty="0"/>
                  <a:t> is a constant and can be taken out of the integral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𝑁𝑅𝐵</m:t>
                        </m:r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d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∙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𝑒𝑥𝑝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nary>
                              <m:naryPr>
                                <m:limLoc m:val="subSup"/>
                                <m:grow m:val="on"/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sup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 </m:t>
                                </m:r>
                              </m:e>
                            </m:nary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num>
                      <m:den>
                        <m:d>
                          <m:dPr>
                            <m:begChr m:val="{"/>
                            <m:endChr m:val="}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f>
                                  <m:f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𝑁𝑅𝐵</m:t>
                                    </m:r>
                                    <m:d>
                                      <m:d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200" i="1"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</m:e>
                                          <m:sub>
                                            <m:r>
                                              <a:rPr lang="en-US" sz="2200" i="1">
                                                <a:latin typeface="Cambria Math" panose="02040503050406030204" pitchFamily="18" charset="0"/>
                                              </a:rPr>
                                              <m:t>𝐶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200" i="1"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</m:e>
                                          <m:sub>
                                            <m:r>
                                              <a:rPr lang="en-US" sz="2200" i="1">
                                                <a:latin typeface="Cambria Math" panose="02040503050406030204" pitchFamily="18" charset="0"/>
                                              </a:rPr>
                                              <m:t>𝐶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200" i="1"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</m:e>
                                          <m:sub>
                                            <m:r>
                                              <a:rPr lang="en-US" sz="2200" i="1">
                                                <a:latin typeface="Cambria Math" panose="02040503050406030204" pitchFamily="18" charset="0"/>
                                              </a:rPr>
                                              <m:t>𝐶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den>
                                </m:f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𝑒𝑥𝑝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sSub>
                                      <m:sSub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nary>
                                      <m:naryPr>
                                        <m:limLoc m:val="subSup"/>
                                        <m:grow m:val="on"/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  <m:sup>
                                        <m:sSub>
                                          <m:sSubPr>
                                            <m:ctrlPr>
                                              <a:rPr lang="en-US" sz="2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200" i="1"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</m:e>
                                          <m:sub>
                                            <m:r>
                                              <a:rPr lang="en-US" sz="2200" i="1">
                                                <a:latin typeface="Cambria Math" panose="02040503050406030204" pitchFamily="18" charset="0"/>
                                              </a:rPr>
                                              <m:t>𝐶</m:t>
                                            </m:r>
                                          </m:sub>
                                        </m:sSub>
                                      </m:sup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 </m:t>
                                        </m:r>
                                      </m:e>
                                    </m:nary>
                                    <m:sSub>
                                      <m:sSub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</m:d>
                                    <m:r>
                                      <m:rPr>
                                        <m:sty m:val="p"/>
                                      </m:rPr>
                                      <a:rPr lang="en-US" sz="2200"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d>
                              </m:e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sSub>
                                  <m:sSub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𝑒𝑥𝑝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sSub>
                                      <m:sSub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nary>
                                      <m:naryPr>
                                        <m:limLoc m:val="subSup"/>
                                        <m:grow m:val="on"/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  <m:sup>
                                        <m:sSub>
                                          <m:sSubPr>
                                            <m:ctrlPr>
                                              <a:rPr lang="en-US" sz="2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200" i="1"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</m:e>
                                          <m:sub>
                                            <m:r>
                                              <a:rPr lang="en-US" sz="2200" i="1">
                                                <a:latin typeface="Cambria Math" panose="02040503050406030204" pitchFamily="18" charset="0"/>
                                              </a:rPr>
                                              <m:t>𝐶</m:t>
                                            </m:r>
                                          </m:sub>
                                        </m:sSub>
                                      </m:sup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 </m:t>
                                        </m:r>
                                      </m:e>
                                    </m:nary>
                                    <m:sSub>
                                      <m:sSub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</m:d>
                                    <m:r>
                                      <m:rPr>
                                        <m:sty m:val="p"/>
                                      </m:rPr>
                                      <a:rPr lang="en-US" sz="2200"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d>
                                <m:nary>
                                  <m:naryPr>
                                    <m:limLoc m:val="subSup"/>
                                    <m:grow m:val="on"/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sub>
                                    </m:sSub>
                                  </m:sup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 </m:t>
                                    </m:r>
                                  </m:e>
                                </m:nary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𝑁𝑅𝐵</m:t>
                                </m:r>
                                <m:d>
                                  <m:d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d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𝑒𝑥𝑝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sSub>
                                      <m:sSub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nary>
                                      <m:naryPr>
                                        <m:limLoc m:val="subSup"/>
                                        <m:grow m:val="on"/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sSub>
                                          <m:sSubPr>
                                            <m:ctrlPr>
                                              <a:rPr lang="en-US" sz="2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200" i="1"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</m:e>
                                          <m:sub>
                                            <m:r>
                                              <a:rPr lang="en-US" sz="2200" i="1">
                                                <a:latin typeface="Cambria Math" panose="02040503050406030204" pitchFamily="18" charset="0"/>
                                              </a:rPr>
                                              <m:t>𝐶</m:t>
                                            </m:r>
                                          </m:sub>
                                        </m:sSub>
                                      </m:sub>
                                      <m:sup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p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 </m:t>
                                        </m:r>
                                      </m:e>
                                    </m:nary>
                                    <m:sSub>
                                      <m:sSub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2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200" i="1"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p>
                                            <m:r>
                                              <a:rPr lang="en-US" sz="2200" i="1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  <m:r>
                                      <m:rPr>
                                        <m:sty m:val="p"/>
                                      </m:rPr>
                                      <a:rPr lang="en-US" sz="2200"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en-US" sz="220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sSub>
                                  <m:sSub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𝑒𝑥𝑝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sSub>
                                      <m:sSub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nary>
                                      <m:naryPr>
                                        <m:limLoc m:val="subSup"/>
                                        <m:grow m:val="on"/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  <m:sup>
                                        <m:sSub>
                                          <m:sSubPr>
                                            <m:ctrlPr>
                                              <a:rPr lang="en-US" sz="2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200" i="1"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</m:e>
                                          <m:sub>
                                            <m:r>
                                              <a:rPr lang="en-US" sz="2200" i="1">
                                                <a:latin typeface="Cambria Math" panose="02040503050406030204" pitchFamily="18" charset="0"/>
                                              </a:rPr>
                                              <m:t>𝐶</m:t>
                                            </m:r>
                                          </m:sub>
                                        </m:sSub>
                                      </m:sup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 </m:t>
                                        </m:r>
                                      </m:e>
                                    </m:nary>
                                    <m:sSub>
                                      <m:sSub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</m:d>
                                    <m:r>
                                      <m:rPr>
                                        <m:sty m:val="p"/>
                                      </m:rPr>
                                      <a:rPr lang="en-US" sz="2200"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d>
                                <m:nary>
                                  <m:naryPr>
                                    <m:limLoc m:val="subSup"/>
                                    <m:grow m:val="on"/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sup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 </m:t>
                                    </m:r>
                                  </m:e>
                                </m:nary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𝑁𝑅𝐵</m:t>
                                </m:r>
                                <m:d>
                                  <m:d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d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𝑒𝑥𝑝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sSub>
                                      <m:sSub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nary>
                                      <m:naryPr>
                                        <m:limLoc m:val="subSup"/>
                                        <m:grow m:val="on"/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sSub>
                                          <m:sSubPr>
                                            <m:ctrlPr>
                                              <a:rPr lang="en-US" sz="2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200" i="1"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</m:e>
                                          <m:sub>
                                            <m:r>
                                              <a:rPr lang="en-US" sz="2200" i="1">
                                                <a:latin typeface="Cambria Math" panose="02040503050406030204" pitchFamily="18" charset="0"/>
                                              </a:rPr>
                                              <m:t>𝐶</m:t>
                                            </m:r>
                                          </m:sub>
                                        </m:sSub>
                                      </m:sub>
                                      <m:sup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p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 </m:t>
                                        </m:r>
                                      </m:e>
                                    </m:nary>
                                    <m:sSub>
                                      <m:sSub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2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200" i="1"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p>
                                            <m:r>
                                              <a:rPr lang="en-US" sz="2200" i="1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  <m:r>
                                      <m:rPr>
                                        <m:sty m:val="p"/>
                                      </m:rPr>
                                      <a:rPr lang="en-US" sz="2200"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en-US" sz="220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eqArr>
                          </m:e>
                        </m:d>
                      </m:den>
                    </m:f>
                    <m:r>
                      <a:rPr lang="en-US" sz="22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r>
                  <a:rPr lang="en-US" sz="2200" dirty="0">
                    <a:effectLst/>
                  </a:rPr>
                  <a:t> </a:t>
                </a:r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D7F0DE-9C3E-9CC3-AC22-68E42F1CC8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t="-7267" b="-43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34225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1C2CC-B709-99CA-A54A-F41E2AEFD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B4B5E-8D19-2ECE-B6A5-C7E9FCDD2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Solution to the 2-component lidar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EDC130-59CD-EE3B-6621-F26089B60D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sz="2600" dirty="0"/>
                  <a:t>Therefore,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𝑁𝑅𝐵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𝑒𝑥𝑝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limLoc m:val="subSup"/>
                                      <m:grow m:val="on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sub>
                                      </m:sSub>
                                    </m:sup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 </m:t>
                                      </m:r>
                                    </m:e>
                                  </m:nary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en-US" sz="160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nary>
                                    <m:naryPr>
                                      <m:limLoc m:val="subSup"/>
                                      <m:grow m:val="on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sup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 </m:t>
                                      </m:r>
                                    </m:e>
                                  </m:nary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en-US" sz="160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d>
                            <m:dPr>
                              <m:begChr m:val="{"/>
                              <m:endChr m:val="}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f>
                                    <m:f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𝑁𝑅𝐵</m:t>
                                      </m:r>
                                      <m:d>
                                        <m:d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den>
                                  </m:f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𝑒𝑥𝑝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  <m:nary>
                                        <m:naryPr>
                                          <m:limLoc m:val="subSup"/>
                                          <m:grow m:val="on"/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  <m:sup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sub>
                                          </m:sSub>
                                        </m:sup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 </m:t>
                                          </m:r>
                                        </m:e>
                                      </m:nary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</m:d>
                                      <m:r>
                                        <m:rPr>
                                          <m:sty m:val="p"/>
                                        </m:rPr>
                                        <a:rPr lang="en-US" sz="160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d>
                                </m:e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𝑒𝑥𝑝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  <m:nary>
                                        <m:naryPr>
                                          <m:limLoc m:val="subSup"/>
                                          <m:grow m:val="on"/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  <m:sup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sub>
                                          </m:sSub>
                                        </m:sup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 </m:t>
                                          </m:r>
                                        </m:e>
                                      </m:nary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</m:d>
                                      <m:r>
                                        <m:rPr>
                                          <m:sty m:val="p"/>
                                        </m:rPr>
                                        <a:rPr lang="en-US" sz="160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d>
                                  <m:nary>
                                    <m:naryPr>
                                      <m:limLoc m:val="subSup"/>
                                      <m:grow m:val="on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sup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 </m:t>
                                      </m:r>
                                    </m:e>
                                  </m:nary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𝑁𝑅𝐵</m:t>
                                  </m:r>
                                  <m:d>
                                    <m:d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d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𝑒𝑥𝑝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  <m:nary>
                                        <m:naryPr>
                                          <m:limLoc m:val="subSup"/>
                                          <m:grow m:val="on"/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sub>
                                          </m:sSub>
                                        </m:sub>
                                        <m:sup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sup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 </m:t>
                                          </m:r>
                                        </m:e>
                                      </m:nary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  <m:r>
                                        <m:rPr>
                                          <m:sty m:val="p"/>
                                        </m:rPr>
                                        <a:rPr lang="en-US" sz="160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en-US" sz="160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eqArr>
                            </m:e>
                          </m:d>
                        </m:den>
                      </m:f>
                      <m:r>
                        <a:rPr lang="en-US" sz="16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</m:oMath>
                  </m:oMathPara>
                </a14:m>
                <a:endParaRPr lang="en-US" sz="1600" dirty="0">
                  <a:effectLst/>
                </a:endParaRPr>
              </a:p>
              <a:p>
                <a:endParaRPr lang="en-US" sz="2600" dirty="0"/>
              </a:p>
              <a:p>
                <a:r>
                  <a:rPr lang="en-US" sz="2600" dirty="0"/>
                  <a:t>Cancel the term </a:t>
                </a:r>
                <a14:m>
                  <m:oMath xmlns:m="http://schemas.openxmlformats.org/officeDocument/2006/math">
                    <m:r>
                      <a:rPr lang="en-US" sz="1900">
                        <a:latin typeface="Cambria Math" panose="02040503050406030204" pitchFamily="18" charset="0"/>
                      </a:rPr>
                      <m:t>𝑒𝑥𝑝</m:t>
                    </m:r>
                    <m:d>
                      <m:dPr>
                        <m:begChr m:val="["/>
                        <m:endChr m:val="]"/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>
                            <a:latin typeface="Cambria Math" panose="02040503050406030204" pitchFamily="18" charset="0"/>
                          </a:rPr>
                          <m:t>−2</m:t>
                        </m:r>
                        <m:sSub>
                          <m:sSubPr>
                            <m:ctrlPr>
                              <a:rPr lang="en-US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90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9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9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9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900">
                            <a:latin typeface="Cambria Math" panose="02040503050406030204" pitchFamily="18" charset="0"/>
                          </a:rPr>
                          <m:t>)</m:t>
                        </m:r>
                        <m:nary>
                          <m:naryPr>
                            <m:limLoc m:val="subSup"/>
                            <m:grow m:val="on"/>
                            <m:ctrlPr>
                              <a:rPr lang="en-US" sz="19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9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90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90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</m:sup>
                          <m:e>
                            <m:r>
                              <a:rPr lang="en-US" sz="1900">
                                <a:latin typeface="Cambria Math" panose="02040503050406030204" pitchFamily="18" charset="0"/>
                              </a:rPr>
                              <m:t> </m:t>
                            </m:r>
                          </m:e>
                        </m:nary>
                        <m:sSub>
                          <m:sSubPr>
                            <m:ctrlPr>
                              <a:rPr lang="en-US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19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sz="19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90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sz="190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sz="190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sz="2600" dirty="0"/>
                  <a:t> from numerator and denominator,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𝑁𝑅𝐵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∙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𝑒𝑥𝑝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nary>
                              <m:naryPr>
                                <m:limLoc m:val="subSup"/>
                                <m:grow m:val="on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</m:sub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sup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 </m:t>
                                </m:r>
                              </m:e>
                            </m:nary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num>
                      <m:den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𝑁𝑅𝐵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−2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nary>
                          <m:naryPr>
                            <m:limLoc m:val="subSup"/>
                            <m:grow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p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 </m:t>
                            </m:r>
                          </m:e>
                        </m:nary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𝑁𝑅𝐵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∙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𝑒𝑥𝑝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nary>
                              <m:naryPr>
                                <m:limLoc m:val="subSup"/>
                                <m:grow m:val="on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</m:sub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 </m:t>
                                </m:r>
                              </m:e>
                            </m:nary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r>
                  <a:rPr lang="en-US" sz="2400" dirty="0">
                    <a:effectLst/>
                  </a:rPr>
                  <a:t>  </a:t>
                </a:r>
              </a:p>
              <a:p>
                <a:endParaRPr lang="en-US" sz="2600" dirty="0"/>
              </a:p>
              <a:p>
                <a:r>
                  <a:rPr lang="en-US" sz="2600" dirty="0"/>
                  <a:t>which leads to a numerical integration scheme. Let </a:t>
                </a:r>
                <a14:m>
                  <m:oMath xmlns:m="http://schemas.openxmlformats.org/officeDocument/2006/math">
                    <m:r>
                      <a:rPr lang="en-US" sz="260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6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6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/>
                  <a:t> be the calibration range, and assume: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)[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>
                    <a:effectLst/>
                  </a:rPr>
                  <a:t> </a:t>
                </a:r>
                <a:endParaRPr lang="en-US" sz="2400" dirty="0"/>
              </a:p>
              <a:p>
                <a:pPr marL="0" indent="0" algn="ctr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EDC130-59CD-EE3B-6621-F26089B60D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65437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B1893-5E49-B842-9FEC-7E5B37441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BE7C4-5E80-F688-29E6-D5C10F7D5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Solution to the 2-component lidar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F366AA-3B9B-0DE6-9754-C22C79EDC4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Then one step above the calibration range we get</a:t>
                </a:r>
                <a:r>
                  <a:rPr lang="en-US" sz="2000" dirty="0"/>
                  <a:t>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𝑁𝑅𝐵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∙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𝑒𝑥𝑝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e>
                        </m:d>
                      </m:num>
                      <m:den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𝑁𝑅𝐵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d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d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𝑁𝑅𝐵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d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𝑁𝑅𝐵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𝑒𝑥𝑝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  <m:r>
                          <a:rPr lang="en-US" sz="2400"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lang="en-US" sz="1800" dirty="0">
                    <a:effectLst/>
                  </a:rPr>
                  <a:t> 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One step below the calibration range we get</a:t>
                </a:r>
                <a:endParaRPr lang="en-US" sz="18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𝑁𝑅𝐵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∙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𝑒𝑥𝑝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−1,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d>
                          </m:e>
                        </m:d>
                      </m:num>
                      <m:den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𝑁𝑅𝐵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d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d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𝑁𝑅𝐵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d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𝑁𝑅𝐵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𝑒𝑥𝑝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−1,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  <m:r>
                          <a:rPr lang="en-US" sz="2400"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lang="en-US" sz="2000" dirty="0">
                    <a:effectLst/>
                  </a:rPr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F366AA-3B9B-0DE6-9754-C22C79EDC4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t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30988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74365-C289-F7C5-DF5C-C353A7818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D2490-37CC-2A98-090A-3EA7CBC3C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Linking aerosol to backscatter coefficient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BC4998-8D43-414D-B0A7-4368580666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The aerosol volume backscatter coefficient is given by: </a:t>
                </a:r>
                <a:endParaRPr lang="en-US" i="1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nary>
                    <m:r>
                      <a:rPr lang="en-US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400" dirty="0">
                    <a:effectLst/>
                  </a:rPr>
                  <a:t> </a:t>
                </a:r>
              </a:p>
              <a:p>
                <a:pPr marL="0" indent="0" algn="ctr">
                  <a:buNone/>
                </a:pPr>
                <a:endParaRPr lang="en-US" sz="2200" dirty="0"/>
              </a:p>
              <a:p>
                <a:pPr lvl="0"/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600" dirty="0"/>
                  <a:t>: aerosol diameter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600" dirty="0"/>
                  <a:t>: aerosol size distribution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6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6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6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600" dirty="0"/>
                  <a:t>: aerosol backscatter efficiency, which can be calculated using Mie theory for spherical aerosol or T-matrix method for spherical and non-spherical aerosol.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∙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600" dirty="0"/>
                  <a:t>: the complex refractive index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600" dirty="0"/>
                  <a:t>: wavelength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2600" dirty="0"/>
                  <a:t>: aerosol volume number density</a:t>
                </a:r>
              </a:p>
              <a:p>
                <a:pPr marL="0" indent="0" algn="ctr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BC4998-8D43-414D-B0A7-4368580666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90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23435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ADE1A-67C3-4354-94C9-76BC9AAD0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911D7-40A6-84AA-7DA4-AC5AF3E49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Rayleigh scattering profile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473919-B5E6-2B12-A6DC-6E07BE37CB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600" dirty="0"/>
                  <a:t>The lidar backscatter coefficient of atmosphere molecular scattering is proportional to air density. Rayleigh scattering backscatter coefficient can be calculated by: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stp</m:t>
                          </m:r>
                        </m:sub>
                      </m:sSub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tp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stp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where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stp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=1.39×[0.55/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𝜆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−6</m:t>
                        </m:r>
                      </m:sup>
                    </m:s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sr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>
                    <a:effectLst/>
                  </a:rPr>
                  <a:t> </a:t>
                </a:r>
              </a:p>
              <a:p>
                <a:r>
                  <a:rPr lang="en-US" dirty="0"/>
                  <a:t>while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tp</m:t>
                        </m:r>
                      </m:sub>
                    </m:sSub>
                    <m:r>
                      <a:rPr lang="en-US" sz="2000">
                        <a:latin typeface="Cambria Math" panose="02040503050406030204" pitchFamily="18" charset="0"/>
                      </a:rPr>
                      <m:t>=288.15 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stp</m:t>
                        </m:r>
                      </m:sub>
                    </m:sSub>
                    <m:r>
                      <a:rPr lang="en-US" sz="2000">
                        <a:latin typeface="Cambria Math" panose="02040503050406030204" pitchFamily="18" charset="0"/>
                      </a:rPr>
                      <m:t>=101325 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𝑃𝑎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 algn="ctr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473919-B5E6-2B12-A6DC-6E07BE37CB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035" r="-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41626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FE077-1BA0-B943-7D46-A66FB3B3C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77152-1863-B96A-8696-17A8542F9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Retrieval examples</a:t>
            </a:r>
          </a:p>
        </p:txBody>
      </p:sp>
      <p:pic>
        <p:nvPicPr>
          <p:cNvPr id="5" name="Content Placeholder 4" descr="A close-up of a graph&#10;&#10;AI-generated content may be incorrect.">
            <a:extLst>
              <a:ext uri="{FF2B5EF4-FFF2-40B4-BE49-F238E27FC236}">
                <a16:creationId xmlns:a16="http://schemas.microsoft.com/office/drawing/2014/main" id="{69C22C3B-AE12-C389-C63A-5637AAC6FB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2634" r="50000"/>
          <a:stretch>
            <a:fillRect/>
          </a:stretch>
        </p:blipFill>
        <p:spPr>
          <a:xfrm>
            <a:off x="3238499" y="3280119"/>
            <a:ext cx="5715000" cy="2747904"/>
          </a:xfrm>
        </p:spPr>
      </p:pic>
      <p:pic>
        <p:nvPicPr>
          <p:cNvPr id="7" name="Picture 6" descr="A close-up of a graph&#10;&#10;AI-generated content may be incorrect.">
            <a:extLst>
              <a:ext uri="{FF2B5EF4-FFF2-40B4-BE49-F238E27FC236}">
                <a16:creationId xmlns:a16="http://schemas.microsoft.com/office/drawing/2014/main" id="{DB676075-27CC-A187-F0A2-E6D43C2C5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595" y="1398797"/>
            <a:ext cx="8062809" cy="1881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467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19347-8F5D-7C37-905D-210CA1A98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-up of a graph&#10;&#10;AI-generated content may be incorrect.">
            <a:extLst>
              <a:ext uri="{FF2B5EF4-FFF2-40B4-BE49-F238E27FC236}">
                <a16:creationId xmlns:a16="http://schemas.microsoft.com/office/drawing/2014/main" id="{2F1E566B-C6A4-E716-502B-7FFAD0FCE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969" y="1398797"/>
            <a:ext cx="8062809" cy="1881322"/>
          </a:xfrm>
          <a:prstGeom prst="rect">
            <a:avLst/>
          </a:prstGeom>
        </p:spPr>
      </p:pic>
      <p:pic>
        <p:nvPicPr>
          <p:cNvPr id="4" name="Picture 3" descr="A close-up of a graph&#10;&#10;AI-generated content may be incorrect.">
            <a:extLst>
              <a:ext uri="{FF2B5EF4-FFF2-40B4-BE49-F238E27FC236}">
                <a16:creationId xmlns:a16="http://schemas.microsoft.com/office/drawing/2014/main" id="{5E3870DE-0E7F-FB29-A6D2-ACB028D519F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rcRect l="12679" r="49672"/>
          <a:stretch>
            <a:fillRect/>
          </a:stretch>
        </p:blipFill>
        <p:spPr>
          <a:xfrm>
            <a:off x="3238499" y="3280119"/>
            <a:ext cx="5715000" cy="27479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E1BBD8-6549-ECE2-BD7A-2B448B0FD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Retrieval examples</a:t>
            </a:r>
          </a:p>
        </p:txBody>
      </p:sp>
    </p:spTree>
    <p:extLst>
      <p:ext uri="{BB962C8B-B14F-4D97-AF65-F5344CB8AC3E}">
        <p14:creationId xmlns:p14="http://schemas.microsoft.com/office/powerpoint/2010/main" val="20491366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F399F-0D6C-9D58-4BE2-3FA61E2D0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rainbow&#10;&#10;AI-generated content may be incorrect.">
            <a:extLst>
              <a:ext uri="{FF2B5EF4-FFF2-40B4-BE49-F238E27FC236}">
                <a16:creationId xmlns:a16="http://schemas.microsoft.com/office/drawing/2014/main" id="{6A8A4499-DFA1-DBBD-7BE6-444944C46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222" y="1410672"/>
            <a:ext cx="8062809" cy="1881322"/>
          </a:xfrm>
          <a:prstGeom prst="rect">
            <a:avLst/>
          </a:prstGeom>
        </p:spPr>
      </p:pic>
      <p:pic>
        <p:nvPicPr>
          <p:cNvPr id="5" name="Picture 4" descr="A close-up of a graph&#10;&#10;AI-generated content may be incorrect.">
            <a:extLst>
              <a:ext uri="{FF2B5EF4-FFF2-40B4-BE49-F238E27FC236}">
                <a16:creationId xmlns:a16="http://schemas.microsoft.com/office/drawing/2014/main" id="{054B4D31-A265-72B0-219F-DF1D7ABE3DC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l="12916" r="49515"/>
          <a:stretch>
            <a:fillRect/>
          </a:stretch>
        </p:blipFill>
        <p:spPr>
          <a:xfrm>
            <a:off x="3238498" y="3291994"/>
            <a:ext cx="5715001" cy="27360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C39EAE-5867-EA7B-C1C3-9F3E8B3D4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Retrieval examples</a:t>
            </a:r>
          </a:p>
        </p:txBody>
      </p:sp>
    </p:spTree>
    <p:extLst>
      <p:ext uri="{BB962C8B-B14F-4D97-AF65-F5344CB8AC3E}">
        <p14:creationId xmlns:p14="http://schemas.microsoft.com/office/powerpoint/2010/main" val="262001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41167-944C-70E8-FCDD-F12763014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612C3-2466-EB49-C69B-47C411997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Fernald, F. G. (1984). Analysis of atmospheric lidar observations: some comments. </a:t>
            </a:r>
            <a:r>
              <a:rPr lang="en-US" i="1" dirty="0"/>
              <a:t>Applied optics</a:t>
            </a:r>
            <a:r>
              <a:rPr lang="en-US" dirty="0"/>
              <a:t>, </a:t>
            </a:r>
            <a:r>
              <a:rPr lang="en-US" i="1" dirty="0"/>
              <a:t>23</a:t>
            </a:r>
            <a:r>
              <a:rPr lang="en-US" dirty="0"/>
              <a:t>(5), 652-653.</a:t>
            </a:r>
          </a:p>
          <a:p>
            <a:r>
              <a:rPr lang="en-US" dirty="0"/>
              <a:t>Campbell, J. R., Hlavka, D. L., Welton, E. J., Flynn, C. J., Turner, D. D., </a:t>
            </a:r>
            <a:r>
              <a:rPr lang="en-US" dirty="0" err="1"/>
              <a:t>Spinhirne</a:t>
            </a:r>
            <a:r>
              <a:rPr lang="en-US" dirty="0"/>
              <a:t>, J. D., ... &amp; Hwang, I. H. (2002). Full-time, eye-safe cloud and aerosol lidar observation at atmospheric radiation measurement program sites: Instruments and data processing. </a:t>
            </a:r>
            <a:r>
              <a:rPr lang="en-US" i="1" dirty="0"/>
              <a:t>Journal of Atmospheric and Oceanic Technology</a:t>
            </a:r>
            <a:r>
              <a:rPr lang="en-US" dirty="0"/>
              <a:t>, </a:t>
            </a:r>
            <a:r>
              <a:rPr lang="en-US" i="1" dirty="0"/>
              <a:t>19</a:t>
            </a:r>
            <a:r>
              <a:rPr lang="en-US" dirty="0"/>
              <a:t>(4), 431-442.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757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2482</TotalTime>
  <Words>1342</Words>
  <Application>Microsoft Macintosh PowerPoint</Application>
  <PresentationFormat>Widescreen</PresentationFormat>
  <Paragraphs>162</Paragraphs>
  <Slides>26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Cambria Math</vt:lpstr>
      <vt:lpstr>Office Theme</vt:lpstr>
      <vt:lpstr> An introduction to MiniMPL for aerosol profile retrieval</vt:lpstr>
      <vt:lpstr>Laser safety</vt:lpstr>
      <vt:lpstr>Types of Atmospheric Lidar   — by detection method and application (1)</vt:lpstr>
      <vt:lpstr>Types of Atmospheric Lidar   — by detection method and application (2)</vt:lpstr>
      <vt:lpstr>Micropulse lidar</vt:lpstr>
      <vt:lpstr>Micropulse lidar examples</vt:lpstr>
      <vt:lpstr>Micropulse lidar examples</vt:lpstr>
      <vt:lpstr>Micropulse lidar examples</vt:lpstr>
      <vt:lpstr>MPL raw signal</vt:lpstr>
      <vt:lpstr>The lidar equation</vt:lpstr>
      <vt:lpstr>Energy and range correction</vt:lpstr>
      <vt:lpstr>The lidar equation for a 2 component atmosphere</vt:lpstr>
      <vt:lpstr>Lidar ratio</vt:lpstr>
      <vt:lpstr>Using Beer-Lambert  law</vt:lpstr>
      <vt:lpstr>Solution to the 2-component lidar equation</vt:lpstr>
      <vt:lpstr>Solution to the 2-component lidar equation</vt:lpstr>
      <vt:lpstr>Solution to the 2-component lidar equation</vt:lpstr>
      <vt:lpstr>Solution to the 2-component lidar equation</vt:lpstr>
      <vt:lpstr>Solution to the 2-component lidar equation</vt:lpstr>
      <vt:lpstr>Solution to the 2-component lidar equation</vt:lpstr>
      <vt:lpstr>Linking aerosol to backscatter coefficient</vt:lpstr>
      <vt:lpstr>Rayleigh scattering profile</vt:lpstr>
      <vt:lpstr>Retrieval examples</vt:lpstr>
      <vt:lpstr>Retrieval examples</vt:lpstr>
      <vt:lpstr>Retrieval examples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Chen, Bo</dc:creator>
  <cp:lastModifiedBy>Chen, Bo</cp:lastModifiedBy>
  <cp:revision>9</cp:revision>
  <dcterms:created xsi:type="dcterms:W3CDTF">2025-08-21T04:23:38Z</dcterms:created>
  <dcterms:modified xsi:type="dcterms:W3CDTF">2025-08-27T04:02:32Z</dcterms:modified>
</cp:coreProperties>
</file>